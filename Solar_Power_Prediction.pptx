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235c2132-9830-eb81-e337-e8c5a383f26b}">
          <p14:sldIdLst>
            <p14:sldId id="256"/>
          </p14:sldIdLst>
        </p14:section>
        <p14:section name="Introduction" id="{8ef202af-ae39-673c-b5c0-8e1ef1dd40ec}">
          <p14:sldIdLst>
            <p14:sldId id="257"/>
            <p14:sldId id="258"/>
            <p14:sldId id="259"/>
          </p14:sldIdLst>
        </p14:section>
        <p14:section name="Method" id="{6e3686ca-aab8-0ff5-2efe-f672da6739fd}">
          <p14:sldIdLst>
            <p14:sldId id="260"/>
            <p14:sldId id="261"/>
            <p14:sldId id="262"/>
          </p14:sldIdLst>
        </p14:section>
        <p14:section name="Results and Demo" id="{c5361f78-e55c-c11c-66a5-f2b4458cfa57}">
          <p14:sldIdLst>
            <p14:sldId id="263"/>
            <p14:sldId id="264"/>
          </p14:sldIdLst>
        </p14:section>
        <p14:section name="Conclusion" id="{797c5fee-eed5-2c19-d767-6959e75a6ab1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43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243E"/>
                </a:solidFill>
                <a:latin typeface="+mn-lt"/>
              </a:rPr>
              <a:t>Solar power through the day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power</c:v>
                </c:pt>
              </c:strCache>
            </c:strRef>
          </c:tx>
          <c:spPr>
            <a:solidFill>
              <a:srgbClr val="F5A623"/>
            </a:solidFill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6</c:v>
                  </c:pt>
                  <c:pt idx="1">
                    <c:v>7</c:v>
                  </c:pt>
                  <c:pt idx="2">
                    <c:v>8</c:v>
                  </c:pt>
                  <c:pt idx="3">
                    <c:v>9</c:v>
                  </c:pt>
                  <c:pt idx="4">
                    <c:v>10</c:v>
                  </c:pt>
                  <c:pt idx="5">
                    <c:v>11</c:v>
                  </c:pt>
                  <c:pt idx="6">
                    <c:v>12</c:v>
                  </c:pt>
                  <c:pt idx="7">
                    <c:v>13</c:v>
                  </c:pt>
                  <c:pt idx="8">
                    <c:v>14</c:v>
                  </c:pt>
                  <c:pt idx="9">
                    <c:v>15</c:v>
                  </c:pt>
                  <c:pt idx="10">
                    <c:v>16</c:v>
                  </c:pt>
                  <c:pt idx="11">
                    <c:v>17</c:v>
                  </c:pt>
                  <c:pt idx="12">
                    <c:v>18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0.1</c:v>
                </c:pt>
                <c:pt idx="2">
                  <c:v>0.35</c:v>
                </c:pt>
                <c:pt idx="3">
                  <c:v>0.6</c:v>
                </c:pt>
                <c:pt idx="4">
                  <c:v>0.82</c:v>
                </c:pt>
                <c:pt idx="5">
                  <c:v>0.95</c:v>
                </c:pt>
                <c:pt idx="6">
                  <c:v>1</c:v>
                </c:pt>
                <c:pt idx="7">
                  <c:v>0.93</c:v>
                </c:pt>
                <c:pt idx="8">
                  <c:v>0.78</c:v>
                </c:pt>
                <c:pt idx="9">
                  <c:v>0.55</c:v>
                </c:pt>
                <c:pt idx="10">
                  <c:v>0.3</c:v>
                </c:pt>
                <c:pt idx="11">
                  <c:v>0.08</c:v>
                </c:pt>
                <c:pt idx="12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6454F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36454F"/>
                    </a:solidFill>
                    <a:latin typeface="+mn-lt"/>
                  </a:rPr>
                  <a:t>Hour of day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6454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9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6454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predicting how much power a solar plant will produce, using machine learning, and showing it on a web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Solar is clean and growing, but the power it makes is not steady. That is the challenge we want to 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companies must balance supply and demand. If we can predict solar output, we can plan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simple goals: data, models, accuracy, and a web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learns the link between weather values and the power the plant 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 from raw files to results. We split by time so the model is tested on later data it has not 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start with a simple baseline and compare it with two stronger tree-based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is only an example of a daily solar curve. Replace it with the actual_vs_predicted.png from your own run. The best model is the one with the highest R2 and lowest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Streamlit turns the Python file into a web page. The user moves sliders, clicks Predict and sees the power in kW.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the system can be used, and how it can be improved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the idea, the models, and the web demo.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1206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54680"/>
            <a:ext cx="4937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Solar Power Generation Prediction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54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Using machine learning and a simple web app</a:t>
            </a:r>
            <a:endParaRPr lang="en-US" sz="1800" dirty="0"/>
          </a:p>
        </p:txBody>
      </p:sp>
      <p:sp>
        <p:nvSpPr>
          <p:cNvPr id="4" name="Halo"/>
          <p:cNvSpPr/>
          <p:nvPr/>
        </p:nvSpPr>
        <p:spPr>
          <a:xfrm>
            <a:off x="5669280" y="868680"/>
            <a:ext cx="3291840" cy="3291840"/>
          </a:xfrm>
          <a:prstGeom prst="ellipse">
            <a:avLst/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5" name="Sun disc"/>
          <p:cNvSpPr/>
          <p:nvPr/>
        </p:nvSpPr>
        <p:spPr>
          <a:xfrm>
            <a:off x="6126480" y="1325880"/>
            <a:ext cx="2377440" cy="23774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un icon" descr="Su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8745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Solar Energy Matters</a:t>
            </a:r>
            <a:endParaRPr lang="en-US" sz="3400" dirty="0"/>
          </a:p>
        </p:txBody>
      </p:sp>
      <p:sp>
        <p:nvSpPr>
          <p:cNvPr id="3" name="Card 1"/>
          <p:cNvSpPr/>
          <p:nvPr/>
        </p:nvSpPr>
        <p:spPr>
          <a:xfrm>
            <a:off x="548640" y="1371600"/>
            <a:ext cx="2499055" cy="301752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</p:sp>
      <p:sp>
        <p:nvSpPr>
          <p:cNvPr id="4" name="Clean and renewable circle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lean and renewable icon" descr="Clean and renew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806854"/>
            <a:ext cx="409651" cy="409651"/>
          </a:xfrm>
          <a:prstGeom prst="rect">
            <a:avLst/>
          </a:prstGeom>
        </p:spPr>
      </p:pic>
      <p:sp>
        <p:nvSpPr>
          <p:cNvPr id="6" name="Card 1 header"/>
          <p:cNvSpPr txBox="1"/>
          <p:nvPr/>
        </p:nvSpPr>
        <p:spPr>
          <a:xfrm>
            <a:off x="822960" y="265176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Clean and renewable</a:t>
            </a:r>
            <a:endParaRPr lang="en-US" sz="1800" dirty="0"/>
          </a:p>
        </p:txBody>
      </p:sp>
      <p:sp>
        <p:nvSpPr>
          <p:cNvPr id="7" name="Card 1 text"/>
          <p:cNvSpPr txBox="1"/>
          <p:nvPr/>
        </p:nvSpPr>
        <p:spPr>
          <a:xfrm>
            <a:off x="822960" y="3246120"/>
            <a:ext cx="1947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Sunlight is free and makes power without harmful emissions.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322015" y="1371600"/>
            <a:ext cx="2499055" cy="301752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</p:sp>
      <p:sp>
        <p:nvSpPr>
          <p:cNvPr id="9" name="Growing fast circle"/>
          <p:cNvSpPr/>
          <p:nvPr/>
        </p:nvSpPr>
        <p:spPr>
          <a:xfrm>
            <a:off x="3596335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Growing fast icon" descr="Growing fa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270" y="1806854"/>
            <a:ext cx="409651" cy="409651"/>
          </a:xfrm>
          <a:prstGeom prst="rect">
            <a:avLst/>
          </a:prstGeom>
        </p:spPr>
      </p:pic>
      <p:sp>
        <p:nvSpPr>
          <p:cNvPr id="11" name="Card 2 header"/>
          <p:cNvSpPr txBox="1"/>
          <p:nvPr/>
        </p:nvSpPr>
        <p:spPr>
          <a:xfrm>
            <a:off x="3596335" y="265176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Growing fast</a:t>
            </a:r>
            <a:endParaRPr lang="en-US" sz="1800" dirty="0"/>
          </a:p>
        </p:txBody>
      </p:sp>
      <p:sp>
        <p:nvSpPr>
          <p:cNvPr id="12" name="Card 2 text"/>
          <p:cNvSpPr txBox="1"/>
          <p:nvPr/>
        </p:nvSpPr>
        <p:spPr>
          <a:xfrm>
            <a:off x="3596335" y="3246120"/>
            <a:ext cx="1947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More solar plants are being connected to power grids every year.</a:t>
            </a:r>
            <a:endParaRPr lang="en-US" sz="1400" dirty="0"/>
          </a:p>
        </p:txBody>
      </p:sp>
      <p:sp>
        <p:nvSpPr>
          <p:cNvPr id="13" name="Card 3"/>
          <p:cNvSpPr/>
          <p:nvPr/>
        </p:nvSpPr>
        <p:spPr>
          <a:xfrm>
            <a:off x="6095390" y="1371600"/>
            <a:ext cx="2499055" cy="301752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/>
        </p:spPr>
      </p:sp>
      <p:sp>
        <p:nvSpPr>
          <p:cNvPr id="14" name="Hard to predict circle"/>
          <p:cNvSpPr/>
          <p:nvPr/>
        </p:nvSpPr>
        <p:spPr>
          <a:xfrm>
            <a:off x="636971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Hard to predict icon" descr="Hard to predic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645" y="1806854"/>
            <a:ext cx="409651" cy="409651"/>
          </a:xfrm>
          <a:prstGeom prst="rect">
            <a:avLst/>
          </a:prstGeom>
        </p:spPr>
      </p:pic>
      <p:sp>
        <p:nvSpPr>
          <p:cNvPr id="16" name="Card 3 header"/>
          <p:cNvSpPr txBox="1"/>
          <p:nvPr/>
        </p:nvSpPr>
        <p:spPr>
          <a:xfrm>
            <a:off x="6369710" y="265176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Hard to predict</a:t>
            </a:r>
            <a:endParaRPr lang="en-US" sz="1800" dirty="0"/>
          </a:p>
        </p:txBody>
      </p:sp>
      <p:sp>
        <p:nvSpPr>
          <p:cNvPr id="17" name="Card 3 text"/>
          <p:cNvSpPr txBox="1"/>
          <p:nvPr/>
        </p:nvSpPr>
        <p:spPr>
          <a:xfrm>
            <a:off x="6369710" y="3246120"/>
            <a:ext cx="1947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Output changes with clouds, temperature and time of day.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Problem</a:t>
            </a:r>
            <a:endParaRPr lang="en-US" sz="3400" dirty="0"/>
          </a:p>
        </p:txBody>
      </p:sp>
      <p:sp>
        <p:nvSpPr>
          <p:cNvPr id="3" name="Problem card"/>
          <p:cNvSpPr/>
          <p:nvPr/>
        </p:nvSpPr>
        <p:spPr>
          <a:xfrm>
            <a:off x="548640" y="1371600"/>
            <a:ext cx="3840480" cy="3017520"/>
          </a:xfrm>
          <a:prstGeom prst="roundRect">
            <a:avLst>
              <a:gd name="adj" fmla="val 3030"/>
            </a:avLst>
          </a:prstGeom>
          <a:solidFill>
            <a:schemeClr val="tx1"/>
          </a:solidFill>
          <a:ln/>
        </p:spPr>
      </p:sp>
      <p:sp>
        <p:nvSpPr>
          <p:cNvPr id="4" name="Problem label"/>
          <p:cNvSpPr txBox="1"/>
          <p:nvPr/>
        </p:nvSpPr>
        <p:spPr>
          <a:xfrm>
            <a:off x="82296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5" name="Problem text"/>
          <p:cNvSpPr txBox="1"/>
          <p:nvPr/>
        </p:nvSpPr>
        <p:spPr>
          <a:xfrm>
            <a:off x="822960" y="19659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Solar output changes all day with sunlight and weather, so it is hard to plan the electricity supply.</a:t>
            </a:r>
            <a:endParaRPr lang="en-US" sz="2000" dirty="0"/>
          </a:p>
        </p:txBody>
      </p:sp>
      <p:sp>
        <p:nvSpPr>
          <p:cNvPr id="6" name="Problem note"/>
          <p:cNvSpPr txBox="1"/>
          <p:nvPr/>
        </p:nvSpPr>
        <p:spPr>
          <a:xfrm>
            <a:off x="822960" y="35204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An existing research area. This project builds a working prediction system with a web demo.</a:t>
            </a:r>
            <a:endParaRPr lang="en-US" sz="1400" dirty="0"/>
          </a:p>
        </p:txBody>
      </p:sp>
      <p:sp>
        <p:nvSpPr>
          <p:cNvPr id="7" name="Balance the grid circle"/>
          <p:cNvSpPr/>
          <p:nvPr/>
        </p:nvSpPr>
        <p:spPr>
          <a:xfrm>
            <a:off x="4754880" y="14859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Balance the grid icon" descr="Balance the gr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5698" y="1626718"/>
            <a:ext cx="358445" cy="358445"/>
          </a:xfrm>
          <a:prstGeom prst="rect">
            <a:avLst/>
          </a:prstGeom>
        </p:spPr>
      </p:pic>
      <p:sp>
        <p:nvSpPr>
          <p:cNvPr id="9" name="Balance the grid text"/>
          <p:cNvSpPr txBox="1"/>
          <p:nvPr/>
        </p:nvSpPr>
        <p:spPr>
          <a:xfrm>
            <a:off x="5577840" y="1371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Balance the grid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Supply must match demand at all times.</a:t>
            </a:r>
            <a:endParaRPr lang="en-US" sz="1400" dirty="0"/>
          </a:p>
        </p:txBody>
      </p:sp>
      <p:sp>
        <p:nvSpPr>
          <p:cNvPr id="10" name="Plan energy storage circle"/>
          <p:cNvSpPr/>
          <p:nvPr/>
        </p:nvSpPr>
        <p:spPr>
          <a:xfrm>
            <a:off x="4754880" y="25374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Plan energy storage icon" descr="Plan energy stor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698" y="2678278"/>
            <a:ext cx="358445" cy="358445"/>
          </a:xfrm>
          <a:prstGeom prst="rect">
            <a:avLst/>
          </a:prstGeom>
        </p:spPr>
      </p:pic>
      <p:sp>
        <p:nvSpPr>
          <p:cNvPr id="12" name="Plan energy storage text"/>
          <p:cNvSpPr txBox="1"/>
          <p:nvPr/>
        </p:nvSpPr>
        <p:spPr>
          <a:xfrm>
            <a:off x="5577840" y="24231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Plan energy storage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Know when to charge or use batteries.</a:t>
            </a:r>
            <a:endParaRPr lang="en-US" sz="1400" dirty="0"/>
          </a:p>
        </p:txBody>
      </p:sp>
      <p:sp>
        <p:nvSpPr>
          <p:cNvPr id="13" name="Save cost circle"/>
          <p:cNvSpPr/>
          <p:nvPr/>
        </p:nvSpPr>
        <p:spPr>
          <a:xfrm>
            <a:off x="4754880" y="35890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Save cost icon" descr="Save co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698" y="3729838"/>
            <a:ext cx="358445" cy="358445"/>
          </a:xfrm>
          <a:prstGeom prst="rect">
            <a:avLst/>
          </a:prstGeom>
        </p:spPr>
      </p:pic>
      <p:sp>
        <p:nvSpPr>
          <p:cNvPr id="15" name="Save cost text"/>
          <p:cNvSpPr txBox="1"/>
          <p:nvPr/>
        </p:nvSpPr>
        <p:spPr>
          <a:xfrm>
            <a:off x="5577840" y="34747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Save cost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Less need for backup power and wastage.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Project Objectives</a:t>
            </a:r>
            <a:endParaRPr lang="en-US" sz="3400" dirty="0"/>
          </a:p>
        </p:txBody>
      </p:sp>
      <p:sp>
        <p:nvSpPr>
          <p:cNvPr id="3" name="Objective card 1"/>
          <p:cNvSpPr/>
          <p:nvPr/>
        </p:nvSpPr>
        <p:spPr>
          <a:xfrm>
            <a:off x="548640" y="1371600"/>
            <a:ext cx="38862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4" name="Number 1"/>
          <p:cNvSpPr/>
          <p:nvPr/>
        </p:nvSpPr>
        <p:spPr>
          <a:xfrm>
            <a:off x="822960" y="17602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Number 1 text"/>
          <p:cNvSpPr txBox="1"/>
          <p:nvPr/>
        </p:nvSpPr>
        <p:spPr>
          <a:xfrm>
            <a:off x="822960" y="17602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Objective 1"/>
          <p:cNvSpPr txBox="1"/>
          <p:nvPr/>
        </p:nvSpPr>
        <p:spPr>
          <a:xfrm>
            <a:off x="1691640" y="137160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Collect and clean solar and weather data</a:t>
            </a:r>
            <a:endParaRPr lang="en-US" sz="1600" dirty="0"/>
          </a:p>
        </p:txBody>
      </p:sp>
      <p:sp>
        <p:nvSpPr>
          <p:cNvPr id="7" name="Objective card 2"/>
          <p:cNvSpPr/>
          <p:nvPr/>
        </p:nvSpPr>
        <p:spPr>
          <a:xfrm>
            <a:off x="4709160" y="1371600"/>
            <a:ext cx="38862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8" name="Number 2"/>
          <p:cNvSpPr/>
          <p:nvPr/>
        </p:nvSpPr>
        <p:spPr>
          <a:xfrm>
            <a:off x="4983480" y="17602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Number 2 text"/>
          <p:cNvSpPr txBox="1"/>
          <p:nvPr/>
        </p:nvSpPr>
        <p:spPr>
          <a:xfrm>
            <a:off x="4983480" y="17602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Objective 2"/>
          <p:cNvSpPr txBox="1"/>
          <p:nvPr/>
        </p:nvSpPr>
        <p:spPr>
          <a:xfrm>
            <a:off x="5852160" y="137160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Train and compare machine learning models</a:t>
            </a:r>
            <a:endParaRPr lang="en-US" sz="1600" dirty="0"/>
          </a:p>
        </p:txBody>
      </p:sp>
      <p:sp>
        <p:nvSpPr>
          <p:cNvPr id="11" name="Objective card 3"/>
          <p:cNvSpPr/>
          <p:nvPr/>
        </p:nvSpPr>
        <p:spPr>
          <a:xfrm>
            <a:off x="548640" y="2971800"/>
            <a:ext cx="38862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/>
          <p:nvPr/>
        </p:nvSpPr>
        <p:spPr>
          <a:xfrm>
            <a:off x="822960" y="33604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Number 3 text"/>
          <p:cNvSpPr txBox="1"/>
          <p:nvPr/>
        </p:nvSpPr>
        <p:spPr>
          <a:xfrm>
            <a:off x="822960" y="33604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Objective 3"/>
          <p:cNvSpPr txBox="1"/>
          <p:nvPr/>
        </p:nvSpPr>
        <p:spPr>
          <a:xfrm>
            <a:off x="1691640" y="297180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Predict solar power output accurately</a:t>
            </a:r>
            <a:endParaRPr lang="en-US" sz="1600" dirty="0"/>
          </a:p>
        </p:txBody>
      </p:sp>
      <p:sp>
        <p:nvSpPr>
          <p:cNvPr id="15" name="Objective card 4"/>
          <p:cNvSpPr/>
          <p:nvPr/>
        </p:nvSpPr>
        <p:spPr>
          <a:xfrm>
            <a:off x="4709160" y="2971800"/>
            <a:ext cx="38862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6" name="Number 4"/>
          <p:cNvSpPr/>
          <p:nvPr/>
        </p:nvSpPr>
        <p:spPr>
          <a:xfrm>
            <a:off x="4983480" y="33604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Number 4 text"/>
          <p:cNvSpPr txBox="1"/>
          <p:nvPr/>
        </p:nvSpPr>
        <p:spPr>
          <a:xfrm>
            <a:off x="4983480" y="33604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Objective 4"/>
          <p:cNvSpPr txBox="1"/>
          <p:nvPr/>
        </p:nvSpPr>
        <p:spPr>
          <a:xfrm>
            <a:off x="5852160" y="297180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Build a web page that anyone can use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Dataset and Features</a:t>
            </a:r>
            <a:endParaRPr lang="en-US" sz="3400" dirty="0"/>
          </a:p>
        </p:txBody>
      </p:sp>
      <p:sp>
        <p:nvSpPr>
          <p:cNvPr id="3" name="Dataset card"/>
          <p:cNvSpPr/>
          <p:nvPr/>
        </p:nvSpPr>
        <p:spPr>
          <a:xfrm>
            <a:off x="548640" y="1371600"/>
            <a:ext cx="393192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</p:spPr>
      </p:sp>
      <p:sp>
        <p:nvSpPr>
          <p:cNvPr id="4" name="Dataset circle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Dataset icon" descr="Data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786738"/>
            <a:ext cx="358445" cy="358445"/>
          </a:xfrm>
          <a:prstGeom prst="rect">
            <a:avLst/>
          </a:prstGeom>
        </p:spPr>
      </p:pic>
      <p:sp>
        <p:nvSpPr>
          <p:cNvPr id="6" name="Dataset name"/>
          <p:cNvSpPr txBox="1"/>
          <p:nvPr/>
        </p:nvSpPr>
        <p:spPr>
          <a:xfrm>
            <a:off x="1645920" y="1645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Solar Power Generation Data (Kaggle)</a:t>
            </a:r>
            <a:endParaRPr lang="en-US" sz="1600" dirty="0"/>
          </a:p>
        </p:txBody>
      </p:sp>
      <p:sp>
        <p:nvSpPr>
          <p:cNvPr id="7" name="Dataset points"/>
          <p:cNvSpPr txBox="1"/>
          <p:nvPr/>
        </p:nvSpPr>
        <p:spPr>
          <a:xfrm>
            <a:off x="822960" y="256032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Readings every 15 minutes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Power output from the plant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Weather sensor data at the plant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Two CSV files merged by time</a:t>
            </a:r>
            <a:endParaRPr lang="en-US" sz="1400" dirty="0"/>
          </a:p>
        </p:txBody>
      </p:sp>
      <p:sp>
        <p:nvSpPr>
          <p:cNvPr id="8" name="Features header"/>
          <p:cNvSpPr txBox="1"/>
          <p:nvPr/>
        </p:nvSpPr>
        <p:spPr>
          <a:xfrm>
            <a:off x="475488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Input features</a:t>
            </a:r>
            <a:endParaRPr lang="en-US" sz="1600" dirty="0"/>
          </a:p>
        </p:txBody>
      </p:sp>
      <p:sp>
        <p:nvSpPr>
          <p:cNvPr id="9" name="Feature chip 1"/>
          <p:cNvSpPr/>
          <p:nvPr/>
        </p:nvSpPr>
        <p:spPr>
          <a:xfrm>
            <a:off x="4754880" y="1783080"/>
            <a:ext cx="3840480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0" name="Feature 1"/>
          <p:cNvSpPr txBox="1"/>
          <p:nvPr/>
        </p:nvSpPr>
        <p:spPr>
          <a:xfrm>
            <a:off x="493776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Irradiation</a:t>
            </a:r>
            <a:endParaRPr lang="en-US" sz="1400" dirty="0"/>
          </a:p>
        </p:txBody>
      </p:sp>
      <p:sp>
        <p:nvSpPr>
          <p:cNvPr id="11" name="Feature chip 2"/>
          <p:cNvSpPr/>
          <p:nvPr/>
        </p:nvSpPr>
        <p:spPr>
          <a:xfrm>
            <a:off x="4754880" y="2221992"/>
            <a:ext cx="3840480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2" name="Feature 2"/>
          <p:cNvSpPr txBox="1"/>
          <p:nvPr/>
        </p:nvSpPr>
        <p:spPr>
          <a:xfrm>
            <a:off x="4937760" y="2221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Ambient temperature</a:t>
            </a:r>
            <a:endParaRPr lang="en-US" sz="1400" dirty="0"/>
          </a:p>
        </p:txBody>
      </p:sp>
      <p:sp>
        <p:nvSpPr>
          <p:cNvPr id="13" name="Feature chip 3"/>
          <p:cNvSpPr/>
          <p:nvPr/>
        </p:nvSpPr>
        <p:spPr>
          <a:xfrm>
            <a:off x="4754880" y="2660904"/>
            <a:ext cx="3840480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4" name="Feature 3"/>
          <p:cNvSpPr txBox="1"/>
          <p:nvPr/>
        </p:nvSpPr>
        <p:spPr>
          <a:xfrm>
            <a:off x="4937760" y="26609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Module temperature</a:t>
            </a:r>
            <a:endParaRPr lang="en-US" sz="1400" dirty="0"/>
          </a:p>
        </p:txBody>
      </p:sp>
      <p:sp>
        <p:nvSpPr>
          <p:cNvPr id="15" name="Feature chip 4"/>
          <p:cNvSpPr/>
          <p:nvPr/>
        </p:nvSpPr>
        <p:spPr>
          <a:xfrm>
            <a:off x="4754880" y="3099816"/>
            <a:ext cx="3840480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6" name="Feature 4"/>
          <p:cNvSpPr txBox="1"/>
          <p:nvPr/>
        </p:nvSpPr>
        <p:spPr>
          <a:xfrm>
            <a:off x="4937760" y="30998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Hour of day</a:t>
            </a:r>
            <a:endParaRPr lang="en-US" sz="1400" dirty="0"/>
          </a:p>
        </p:txBody>
      </p:sp>
      <p:sp>
        <p:nvSpPr>
          <p:cNvPr id="17" name="Feature chip 5"/>
          <p:cNvSpPr/>
          <p:nvPr/>
        </p:nvSpPr>
        <p:spPr>
          <a:xfrm>
            <a:off x="4754880" y="3538728"/>
            <a:ext cx="3840480" cy="36576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/>
        </p:spPr>
      </p:sp>
      <p:sp>
        <p:nvSpPr>
          <p:cNvPr id="18" name="Feature 5"/>
          <p:cNvSpPr txBox="1"/>
          <p:nvPr/>
        </p:nvSpPr>
        <p:spPr>
          <a:xfrm>
            <a:off x="4937760" y="3538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Month</a:t>
            </a:r>
            <a:endParaRPr lang="en-US" sz="1400" dirty="0"/>
          </a:p>
        </p:txBody>
      </p:sp>
      <p:sp>
        <p:nvSpPr>
          <p:cNvPr id="19" name="Target chip"/>
          <p:cNvSpPr/>
          <p:nvPr/>
        </p:nvSpPr>
        <p:spPr>
          <a:xfrm>
            <a:off x="4754880" y="4023360"/>
            <a:ext cx="3840480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20" name="Target"/>
          <p:cNvSpPr txBox="1"/>
          <p:nvPr/>
        </p:nvSpPr>
        <p:spPr>
          <a:xfrm>
            <a:off x="493776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Target: DC power (kW)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Methodology</a:t>
            </a:r>
            <a:endParaRPr lang="en-US" sz="3400" dirty="0"/>
          </a:p>
        </p:txBody>
      </p:sp>
      <p:sp>
        <p:nvSpPr>
          <p:cNvPr id="3" name="Connector 1"/>
          <p:cNvSpPr/>
          <p:nvPr/>
        </p:nvSpPr>
        <p:spPr>
          <a:xfrm>
            <a:off x="1764792" y="1965960"/>
            <a:ext cx="78638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4" name="Number 1"/>
          <p:cNvSpPr/>
          <p:nvPr/>
        </p:nvSpPr>
        <p:spPr>
          <a:xfrm>
            <a:off x="941832" y="1554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Number 1 text"/>
          <p:cNvSpPr txBox="1"/>
          <p:nvPr/>
        </p:nvSpPr>
        <p:spPr>
          <a:xfrm>
            <a:off x="941832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Step 1 label"/>
          <p:cNvSpPr txBox="1"/>
          <p:nvPr/>
        </p:nvSpPr>
        <p:spPr>
          <a:xfrm>
            <a:off x="621792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Load data</a:t>
            </a:r>
            <a:endParaRPr lang="en-US" sz="1600" dirty="0"/>
          </a:p>
        </p:txBody>
      </p:sp>
      <p:sp>
        <p:nvSpPr>
          <p:cNvPr id="7" name="Step 1 text"/>
          <p:cNvSpPr txBox="1"/>
          <p:nvPr/>
        </p:nvSpPr>
        <p:spPr>
          <a:xfrm>
            <a:off x="621792" y="3108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power and weather files</a:t>
            </a:r>
            <a:endParaRPr lang="en-US" sz="1400" dirty="0"/>
          </a:p>
        </p:txBody>
      </p:sp>
      <p:sp>
        <p:nvSpPr>
          <p:cNvPr id="8" name="Connector 2"/>
          <p:cNvSpPr/>
          <p:nvPr/>
        </p:nvSpPr>
        <p:spPr>
          <a:xfrm>
            <a:off x="3374136" y="1965960"/>
            <a:ext cx="78638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9" name="Number 2"/>
          <p:cNvSpPr/>
          <p:nvPr/>
        </p:nvSpPr>
        <p:spPr>
          <a:xfrm>
            <a:off x="2551176" y="1554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umber 2 text"/>
          <p:cNvSpPr txBox="1"/>
          <p:nvPr/>
        </p:nvSpPr>
        <p:spPr>
          <a:xfrm>
            <a:off x="2551176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Step 2 label"/>
          <p:cNvSpPr txBox="1"/>
          <p:nvPr/>
        </p:nvSpPr>
        <p:spPr>
          <a:xfrm>
            <a:off x="2231136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Clean and merge</a:t>
            </a:r>
            <a:endParaRPr lang="en-US" sz="1600" dirty="0"/>
          </a:p>
        </p:txBody>
      </p:sp>
      <p:sp>
        <p:nvSpPr>
          <p:cNvPr id="12" name="Step 2 text"/>
          <p:cNvSpPr txBox="1"/>
          <p:nvPr/>
        </p:nvSpPr>
        <p:spPr>
          <a:xfrm>
            <a:off x="2231136" y="3108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Join by time, remove missing values</a:t>
            </a:r>
            <a:endParaRPr lang="en-US" sz="1400" dirty="0"/>
          </a:p>
        </p:txBody>
      </p:sp>
      <p:sp>
        <p:nvSpPr>
          <p:cNvPr id="13" name="Connector 3"/>
          <p:cNvSpPr/>
          <p:nvPr/>
        </p:nvSpPr>
        <p:spPr>
          <a:xfrm>
            <a:off x="4983480" y="1965960"/>
            <a:ext cx="78638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4" name="Number 3"/>
          <p:cNvSpPr/>
          <p:nvPr/>
        </p:nvSpPr>
        <p:spPr>
          <a:xfrm>
            <a:off x="4160520" y="1554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Number 3 text"/>
          <p:cNvSpPr txBox="1"/>
          <p:nvPr/>
        </p:nvSpPr>
        <p:spPr>
          <a:xfrm>
            <a:off x="41605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Step 3 label"/>
          <p:cNvSpPr txBox="1"/>
          <p:nvPr/>
        </p:nvSpPr>
        <p:spPr>
          <a:xfrm>
            <a:off x="3840480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Create features</a:t>
            </a:r>
            <a:endParaRPr lang="en-US" sz="1600" dirty="0"/>
          </a:p>
        </p:txBody>
      </p:sp>
      <p:sp>
        <p:nvSpPr>
          <p:cNvPr id="17" name="Step 3 text"/>
          <p:cNvSpPr txBox="1"/>
          <p:nvPr/>
        </p:nvSpPr>
        <p:spPr>
          <a:xfrm>
            <a:off x="3840480" y="3108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hour of day and month</a:t>
            </a:r>
            <a:endParaRPr lang="en-US" sz="1400" dirty="0"/>
          </a:p>
        </p:txBody>
      </p:sp>
      <p:sp>
        <p:nvSpPr>
          <p:cNvPr id="18" name="Connector 4"/>
          <p:cNvSpPr/>
          <p:nvPr/>
        </p:nvSpPr>
        <p:spPr>
          <a:xfrm>
            <a:off x="6592824" y="1965960"/>
            <a:ext cx="78638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9" name="Number 4"/>
          <p:cNvSpPr/>
          <p:nvPr/>
        </p:nvSpPr>
        <p:spPr>
          <a:xfrm>
            <a:off x="5769864" y="1554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Number 4 text"/>
          <p:cNvSpPr txBox="1"/>
          <p:nvPr/>
        </p:nvSpPr>
        <p:spPr>
          <a:xfrm>
            <a:off x="5769864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</a:t>
            </a:r>
            <a:endParaRPr lang="en-US" sz="2400" dirty="0"/>
          </a:p>
        </p:txBody>
      </p:sp>
      <p:sp>
        <p:nvSpPr>
          <p:cNvPr id="21" name="Step 4 label"/>
          <p:cNvSpPr txBox="1"/>
          <p:nvPr/>
        </p:nvSpPr>
        <p:spPr>
          <a:xfrm>
            <a:off x="5449824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 models</a:t>
            </a:r>
            <a:endParaRPr lang="en-US" sz="1600" dirty="0"/>
          </a:p>
        </p:txBody>
      </p:sp>
      <p:sp>
        <p:nvSpPr>
          <p:cNvPr id="22" name="Step 4 text"/>
          <p:cNvSpPr txBox="1"/>
          <p:nvPr/>
        </p:nvSpPr>
        <p:spPr>
          <a:xfrm>
            <a:off x="5449824" y="3108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Fit three ML models</a:t>
            </a:r>
            <a:endParaRPr lang="en-US" sz="1400" dirty="0"/>
          </a:p>
        </p:txBody>
      </p:sp>
      <p:sp>
        <p:nvSpPr>
          <p:cNvPr id="23" name="Number 5"/>
          <p:cNvSpPr/>
          <p:nvPr/>
        </p:nvSpPr>
        <p:spPr>
          <a:xfrm>
            <a:off x="7379208" y="15544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Number 5 text"/>
          <p:cNvSpPr txBox="1"/>
          <p:nvPr/>
        </p:nvSpPr>
        <p:spPr>
          <a:xfrm>
            <a:off x="7379208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5</a:t>
            </a:r>
            <a:endParaRPr lang="en-US" sz="2400" dirty="0"/>
          </a:p>
        </p:txBody>
      </p:sp>
      <p:sp>
        <p:nvSpPr>
          <p:cNvPr id="25" name="Step 5 label"/>
          <p:cNvSpPr txBox="1"/>
          <p:nvPr/>
        </p:nvSpPr>
        <p:spPr>
          <a:xfrm>
            <a:off x="7059168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Evaluate</a:t>
            </a:r>
            <a:endParaRPr lang="en-US" sz="1600" dirty="0"/>
          </a:p>
        </p:txBody>
      </p:sp>
      <p:sp>
        <p:nvSpPr>
          <p:cNvPr id="26" name="Step 5 text"/>
          <p:cNvSpPr txBox="1"/>
          <p:nvPr/>
        </p:nvSpPr>
        <p:spPr>
          <a:xfrm>
            <a:off x="7059168" y="3108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RMSE, MAE and R²</a:t>
            </a:r>
            <a:endParaRPr lang="en-US" sz="1400" dirty="0"/>
          </a:p>
        </p:txBody>
      </p:sp>
      <p:sp>
        <p:nvSpPr>
          <p:cNvPr id="27" name="Split note card"/>
          <p:cNvSpPr/>
          <p:nvPr/>
        </p:nvSpPr>
        <p:spPr>
          <a:xfrm>
            <a:off x="548640" y="3931920"/>
            <a:ext cx="804672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28" name="Split note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is split by time: first 80% for training, last 20% for testing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Models Compared</a:t>
            </a:r>
            <a:endParaRPr lang="en-US" sz="3400" dirty="0"/>
          </a:p>
        </p:txBody>
      </p:sp>
      <p:sp>
        <p:nvSpPr>
          <p:cNvPr id="3" name="Model label card 1"/>
          <p:cNvSpPr/>
          <p:nvPr/>
        </p:nvSpPr>
        <p:spPr>
          <a:xfrm>
            <a:off x="548640" y="1371600"/>
            <a:ext cx="256032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4" name="Model 1"/>
          <p:cNvSpPr txBox="1"/>
          <p:nvPr/>
        </p:nvSpPr>
        <p:spPr>
          <a:xfrm>
            <a:off x="731520" y="1371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Linear Regression</a:t>
            </a:r>
            <a:endParaRPr lang="en-US" sz="1800" dirty="0"/>
          </a:p>
        </p:txBody>
      </p:sp>
      <p:sp>
        <p:nvSpPr>
          <p:cNvPr id="5" name="Model text card 1"/>
          <p:cNvSpPr/>
          <p:nvPr/>
        </p:nvSpPr>
        <p:spPr>
          <a:xfrm>
            <a:off x="3200400" y="1371600"/>
            <a:ext cx="53949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6" name="Model 1 text"/>
          <p:cNvSpPr txBox="1"/>
          <p:nvPr/>
        </p:nvSpPr>
        <p:spPr>
          <a:xfrm>
            <a:off x="3429000" y="1371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Simple baseline. Fits a straight-line link between weather and power.</a:t>
            </a:r>
            <a:endParaRPr lang="en-US" sz="1400" dirty="0"/>
          </a:p>
        </p:txBody>
      </p:sp>
      <p:sp>
        <p:nvSpPr>
          <p:cNvPr id="7" name="Model label card 2"/>
          <p:cNvSpPr/>
          <p:nvPr/>
        </p:nvSpPr>
        <p:spPr>
          <a:xfrm>
            <a:off x="548640" y="2423160"/>
            <a:ext cx="256032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8" name="Model 2"/>
          <p:cNvSpPr txBox="1"/>
          <p:nvPr/>
        </p:nvSpPr>
        <p:spPr>
          <a:xfrm>
            <a:off x="73152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Random Forest</a:t>
            </a:r>
            <a:endParaRPr lang="en-US" sz="1800" dirty="0"/>
          </a:p>
        </p:txBody>
      </p:sp>
      <p:sp>
        <p:nvSpPr>
          <p:cNvPr id="9" name="Model text card 2"/>
          <p:cNvSpPr/>
          <p:nvPr/>
        </p:nvSpPr>
        <p:spPr>
          <a:xfrm>
            <a:off x="3200400" y="2423160"/>
            <a:ext cx="53949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0" name="Model 2 text"/>
          <p:cNvSpPr txBox="1"/>
          <p:nvPr/>
        </p:nvSpPr>
        <p:spPr>
          <a:xfrm>
            <a:off x="3429000" y="24231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Many decision trees vote together. Handles non-linear patterns well.</a:t>
            </a:r>
            <a:endParaRPr lang="en-US" sz="1400" dirty="0"/>
          </a:p>
        </p:txBody>
      </p:sp>
      <p:sp>
        <p:nvSpPr>
          <p:cNvPr id="11" name="Model label card 3"/>
          <p:cNvSpPr/>
          <p:nvPr/>
        </p:nvSpPr>
        <p:spPr>
          <a:xfrm>
            <a:off x="548640" y="3474720"/>
            <a:ext cx="256032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</p:sp>
      <p:sp>
        <p:nvSpPr>
          <p:cNvPr id="12" name="Model 3"/>
          <p:cNvSpPr txBox="1"/>
          <p:nvPr/>
        </p:nvSpPr>
        <p:spPr>
          <a:xfrm>
            <a:off x="73152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Gradient Boosting</a:t>
            </a:r>
            <a:endParaRPr lang="en-US" sz="1800" dirty="0"/>
          </a:p>
        </p:txBody>
      </p:sp>
      <p:sp>
        <p:nvSpPr>
          <p:cNvPr id="13" name="Model text card 3"/>
          <p:cNvSpPr/>
          <p:nvPr/>
        </p:nvSpPr>
        <p:spPr>
          <a:xfrm>
            <a:off x="3200400" y="3474720"/>
            <a:ext cx="53949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4" name="Model 3 text"/>
          <p:cNvSpPr txBox="1"/>
          <p:nvPr/>
        </p:nvSpPr>
        <p:spPr>
          <a:xfrm>
            <a:off x="3429000" y="34747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Trees built one by one, each fixing the mistakes of the last.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Evaluating the Models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48463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 caption"/>
          <p:cNvSpPr txBox="1"/>
          <p:nvPr/>
        </p:nvSpPr>
        <p:spPr>
          <a:xfrm>
            <a:off x="548640" y="4114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Typical daily solar curve (illustrative)</a:t>
            </a:r>
            <a:endParaRPr lang="en-US" sz="1200" dirty="0"/>
          </a:p>
        </p:txBody>
      </p:sp>
      <p:sp>
        <p:nvSpPr>
          <p:cNvPr id="5" name="Metric card 1"/>
          <p:cNvSpPr/>
          <p:nvPr/>
        </p:nvSpPr>
        <p:spPr>
          <a:xfrm>
            <a:off x="5669280" y="1371600"/>
            <a:ext cx="29260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6" name="RMSE text"/>
          <p:cNvSpPr txBox="1"/>
          <p:nvPr/>
        </p:nvSpPr>
        <p:spPr>
          <a:xfrm>
            <a:off x="5852160" y="13716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RMSE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size of errors. Lower is better.</a:t>
            </a:r>
            <a:endParaRPr lang="en-US" sz="1400" dirty="0"/>
          </a:p>
        </p:txBody>
      </p:sp>
      <p:sp>
        <p:nvSpPr>
          <p:cNvPr id="7" name="Metric card 2"/>
          <p:cNvSpPr/>
          <p:nvPr/>
        </p:nvSpPr>
        <p:spPr>
          <a:xfrm>
            <a:off x="5669280" y="2423160"/>
            <a:ext cx="29260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8" name="MAE text"/>
          <p:cNvSpPr txBox="1"/>
          <p:nvPr/>
        </p:nvSpPr>
        <p:spPr>
          <a:xfrm>
            <a:off x="5852160" y="24231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Typical error in kW. Lower is better.</a:t>
            </a:r>
            <a:endParaRPr lang="en-US" sz="1400" dirty="0"/>
          </a:p>
        </p:txBody>
      </p:sp>
      <p:sp>
        <p:nvSpPr>
          <p:cNvPr id="9" name="Metric card 3"/>
          <p:cNvSpPr/>
          <p:nvPr/>
        </p:nvSpPr>
        <p:spPr>
          <a:xfrm>
            <a:off x="5669280" y="3474720"/>
            <a:ext cx="29260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0" name="R² text"/>
          <p:cNvSpPr txBox="1"/>
          <p:nvPr/>
        </p:nvSpPr>
        <p:spPr>
          <a:xfrm>
            <a:off x="5852160" y="34747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well the model fits. Closer to 1 is better.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Web Application</a:t>
            </a:r>
            <a:endParaRPr lang="en-US" sz="3400" dirty="0"/>
          </a:p>
        </p:txBody>
      </p:sp>
      <p:sp>
        <p:nvSpPr>
          <p:cNvPr id="3" name="Number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Number 1 text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Web step 1"/>
          <p:cNvSpPr txBox="1"/>
          <p:nvPr/>
        </p:nvSpPr>
        <p:spPr>
          <a:xfrm>
            <a:off x="1280160" y="1371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Enter weather values</a:t>
            </a:r>
            <a:endParaRPr lang="en-US" sz="1600" dirty="0"/>
          </a:p>
        </p:txBody>
      </p:sp>
      <p:sp>
        <p:nvSpPr>
          <p:cNvPr id="6" name="Number 2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Number 2 text"/>
          <p:cNvSpPr txBox="1"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Web step 2"/>
          <p:cNvSpPr txBox="1"/>
          <p:nvPr/>
        </p:nvSpPr>
        <p:spPr>
          <a:xfrm>
            <a:off x="1280160" y="2148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Click Predict</a:t>
            </a:r>
            <a:endParaRPr lang="en-US" sz="1600" dirty="0"/>
          </a:p>
        </p:txBody>
      </p:sp>
      <p:sp>
        <p:nvSpPr>
          <p:cNvPr id="9" name="Number 3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umber 3 text"/>
          <p:cNvSpPr txBox="1"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Web step 3"/>
          <p:cNvSpPr txBox="1"/>
          <p:nvPr/>
        </p:nvSpPr>
        <p:spPr>
          <a:xfrm>
            <a:off x="1280160" y="2926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Saved model runs</a:t>
            </a:r>
            <a:endParaRPr lang="en-US" sz="1600" dirty="0"/>
          </a:p>
        </p:txBody>
      </p:sp>
      <p:sp>
        <p:nvSpPr>
          <p:cNvPr id="12" name="Number 4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Number 4 text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Web step 4"/>
          <p:cNvSpPr txBox="1"/>
          <p:nvPr/>
        </p:nvSpPr>
        <p:spPr>
          <a:xfrm>
            <a:off x="1280160" y="3703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Power output is shown</a:t>
            </a:r>
            <a:endParaRPr lang="en-US" sz="1600" dirty="0"/>
          </a:p>
        </p:txBody>
      </p:sp>
      <p:sp>
        <p:nvSpPr>
          <p:cNvPr id="15" name="Screen frame"/>
          <p:cNvSpPr/>
          <p:nvPr/>
        </p:nvSpPr>
        <p:spPr>
          <a:xfrm>
            <a:off x="4754880" y="1371600"/>
            <a:ext cx="3840480" cy="3017520"/>
          </a:xfrm>
          <a:prstGeom prst="roundRect">
            <a:avLst>
              <a:gd name="adj" fmla="val 3030"/>
            </a:avLst>
          </a:prstGeom>
          <a:solidFill>
            <a:schemeClr val="tx1"/>
          </a:solidFill>
          <a:ln/>
        </p:spPr>
      </p:sp>
      <p:sp>
        <p:nvSpPr>
          <p:cNvPr id="16" name="Mock page"/>
          <p:cNvSpPr/>
          <p:nvPr/>
        </p:nvSpPr>
        <p:spPr>
          <a:xfrm>
            <a:off x="4937760" y="1554480"/>
            <a:ext cx="3474720" cy="265176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/>
        </p:spPr>
      </p:sp>
      <p:sp>
        <p:nvSpPr>
          <p:cNvPr id="17" name="Mock title"/>
          <p:cNvSpPr txBox="1"/>
          <p:nvPr/>
        </p:nvSpPr>
        <p:spPr>
          <a:xfrm>
            <a:off x="512064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Solar Power Predictor</a:t>
            </a:r>
            <a:endParaRPr lang="en-US" sz="1600" dirty="0"/>
          </a:p>
        </p:txBody>
      </p:sp>
      <p:sp>
        <p:nvSpPr>
          <p:cNvPr id="18" name="Mock label 1"/>
          <p:cNvSpPr txBox="1"/>
          <p:nvPr/>
        </p:nvSpPr>
        <p:spPr>
          <a:xfrm>
            <a:off x="512064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Irradiation</a:t>
            </a:r>
            <a:endParaRPr lang="en-US" sz="1200" dirty="0"/>
          </a:p>
        </p:txBody>
      </p:sp>
      <p:sp>
        <p:nvSpPr>
          <p:cNvPr id="19" name="Mock track 1"/>
          <p:cNvSpPr/>
          <p:nvPr/>
        </p:nvSpPr>
        <p:spPr>
          <a:xfrm>
            <a:off x="6400800" y="2331720"/>
            <a:ext cx="18288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20" name="Mock knob 1"/>
          <p:cNvSpPr/>
          <p:nvPr/>
        </p:nvSpPr>
        <p:spPr>
          <a:xfrm>
            <a:off x="7498080" y="224028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Mock label 2"/>
          <p:cNvSpPr txBox="1"/>
          <p:nvPr/>
        </p:nvSpPr>
        <p:spPr>
          <a:xfrm>
            <a:off x="512064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Temperature</a:t>
            </a:r>
            <a:endParaRPr lang="en-US" sz="1200" dirty="0"/>
          </a:p>
        </p:txBody>
      </p:sp>
      <p:sp>
        <p:nvSpPr>
          <p:cNvPr id="22" name="Mock track 2"/>
          <p:cNvSpPr/>
          <p:nvPr/>
        </p:nvSpPr>
        <p:spPr>
          <a:xfrm>
            <a:off x="6400800" y="2697480"/>
            <a:ext cx="18288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23" name="Mock knob 2"/>
          <p:cNvSpPr/>
          <p:nvPr/>
        </p:nvSpPr>
        <p:spPr>
          <a:xfrm>
            <a:off x="7040880" y="260604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Mock label 3"/>
          <p:cNvSpPr txBox="1"/>
          <p:nvPr/>
        </p:nvSpPr>
        <p:spPr>
          <a:xfrm>
            <a:off x="5120640" y="2926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Hour of day</a:t>
            </a:r>
            <a:endParaRPr lang="en-US" sz="1200" dirty="0"/>
          </a:p>
        </p:txBody>
      </p:sp>
      <p:sp>
        <p:nvSpPr>
          <p:cNvPr id="25" name="Mock track 3"/>
          <p:cNvSpPr/>
          <p:nvPr/>
        </p:nvSpPr>
        <p:spPr>
          <a:xfrm>
            <a:off x="6400800" y="3063240"/>
            <a:ext cx="18288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26" name="Mock knob 3"/>
          <p:cNvSpPr/>
          <p:nvPr/>
        </p:nvSpPr>
        <p:spPr>
          <a:xfrm>
            <a:off x="7680960" y="297180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Mock button"/>
          <p:cNvSpPr/>
          <p:nvPr/>
        </p:nvSpPr>
        <p:spPr>
          <a:xfrm>
            <a:off x="5120640" y="3474720"/>
            <a:ext cx="137160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28" name="Mock button text"/>
          <p:cNvSpPr txBox="1"/>
          <p:nvPr/>
        </p:nvSpPr>
        <p:spPr>
          <a:xfrm>
            <a:off x="5120640" y="3474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Predict</a:t>
            </a:r>
            <a:endParaRPr lang="en-US" sz="1400" dirty="0"/>
          </a:p>
        </p:txBody>
      </p:sp>
      <p:sp>
        <p:nvSpPr>
          <p:cNvPr id="29" name="Mock result"/>
          <p:cNvSpPr txBox="1"/>
          <p:nvPr/>
        </p:nvSpPr>
        <p:spPr>
          <a:xfrm>
            <a:off x="6766560" y="3474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__ kW</a:t>
            </a:r>
            <a:endParaRPr lang="en-US" sz="2000" dirty="0"/>
          </a:p>
        </p:txBody>
      </p:sp>
      <p:sp>
        <p:nvSpPr>
          <p:cNvPr id="30" name="Web caption"/>
          <p:cNvSpPr txBox="1"/>
          <p:nvPr/>
        </p:nvSpPr>
        <p:spPr>
          <a:xfrm>
            <a:off x="4754880" y="4462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Built with Streamlit, hosted free online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Applications and Future Scope</a:t>
            </a:r>
            <a:endParaRPr lang="en-US" sz="3400" dirty="0"/>
          </a:p>
        </p:txBody>
      </p:sp>
      <p:sp>
        <p:nvSpPr>
          <p:cNvPr id="3" name="Applications card"/>
          <p:cNvSpPr/>
          <p:nvPr/>
        </p:nvSpPr>
        <p:spPr>
          <a:xfrm>
            <a:off x="548640" y="1371600"/>
            <a:ext cx="393192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</p:spPr>
      </p:sp>
      <p:sp>
        <p:nvSpPr>
          <p:cNvPr id="4" name="Applications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pplications icon" descr="Applic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766621"/>
            <a:ext cx="307238" cy="307238"/>
          </a:xfrm>
          <a:prstGeom prst="rect">
            <a:avLst/>
          </a:prstGeom>
        </p:spPr>
      </p:pic>
      <p:sp>
        <p:nvSpPr>
          <p:cNvPr id="6" name="Applications header"/>
          <p:cNvSpPr txBox="1"/>
          <p:nvPr/>
        </p:nvSpPr>
        <p:spPr>
          <a:xfrm>
            <a:off x="1554480" y="1645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Applications</a:t>
            </a:r>
            <a:endParaRPr lang="en-US" sz="2000" dirty="0"/>
          </a:p>
        </p:txBody>
      </p:sp>
      <p:sp>
        <p:nvSpPr>
          <p:cNvPr id="7" name="Applications list"/>
          <p:cNvSpPr txBox="1"/>
          <p:nvPr/>
        </p:nvSpPr>
        <p:spPr>
          <a:xfrm>
            <a:off x="822960" y="251460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Power grid planning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Solar plant monitoring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Energy storage scheduling</a:t>
            </a:r>
            <a:endParaRPr lang="en-US" sz="1600" dirty="0"/>
          </a:p>
        </p:txBody>
      </p:sp>
      <p:sp>
        <p:nvSpPr>
          <p:cNvPr id="8" name="Future scope card"/>
          <p:cNvSpPr/>
          <p:nvPr/>
        </p:nvSpPr>
        <p:spPr>
          <a:xfrm>
            <a:off x="4663440" y="1371600"/>
            <a:ext cx="393192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</p:spPr>
      </p:sp>
      <p:sp>
        <p:nvSpPr>
          <p:cNvPr id="9" name="Future scope circle"/>
          <p:cNvSpPr/>
          <p:nvPr/>
        </p:nvSpPr>
        <p:spPr>
          <a:xfrm>
            <a:off x="49377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uture scope icon" descr="Future sco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61" y="1766621"/>
            <a:ext cx="307238" cy="307238"/>
          </a:xfrm>
          <a:prstGeom prst="rect">
            <a:avLst/>
          </a:prstGeom>
        </p:spPr>
      </p:pic>
      <p:sp>
        <p:nvSpPr>
          <p:cNvPr id="11" name="Future scope header"/>
          <p:cNvSpPr txBox="1"/>
          <p:nvPr/>
        </p:nvSpPr>
        <p:spPr>
          <a:xfrm>
            <a:off x="5669280" y="1645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2" name="Future scope list"/>
          <p:cNvSpPr txBox="1"/>
          <p:nvPr/>
        </p:nvSpPr>
        <p:spPr>
          <a:xfrm>
            <a:off x="4937760" y="251460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Next-day forecast with weather API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LSTM deep learning model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Data from more locations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Point 1 circle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Point 1 icon" descr="Point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1482242"/>
            <a:ext cx="281635" cy="281635"/>
          </a:xfrm>
          <a:prstGeom prst="rect">
            <a:avLst/>
          </a:prstGeom>
        </p:spPr>
      </p:pic>
      <p:sp>
        <p:nvSpPr>
          <p:cNvPr id="5" name="Point 1 text"/>
          <p:cNvSpPr txBox="1"/>
          <p:nvPr/>
        </p:nvSpPr>
        <p:spPr>
          <a:xfrm>
            <a:off x="1280160" y="13716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Machine learning can predict solar power from weather data</a:t>
            </a:r>
            <a:endParaRPr lang="en-US" sz="1800" dirty="0"/>
          </a:p>
        </p:txBody>
      </p:sp>
      <p:sp>
        <p:nvSpPr>
          <p:cNvPr id="6" name="Point 2 circle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Point 2 icon" descr="Point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" y="2259482"/>
            <a:ext cx="281635" cy="281635"/>
          </a:xfrm>
          <a:prstGeom prst="rect">
            <a:avLst/>
          </a:prstGeom>
        </p:spPr>
      </p:pic>
      <p:sp>
        <p:nvSpPr>
          <p:cNvPr id="8" name="Point 2 text"/>
          <p:cNvSpPr txBox="1"/>
          <p:nvPr/>
        </p:nvSpPr>
        <p:spPr>
          <a:xfrm>
            <a:off x="1280160" y="214884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Three models are compared using RMSE, MAE and R²</a:t>
            </a:r>
            <a:endParaRPr lang="en-US" sz="1800" dirty="0"/>
          </a:p>
        </p:txBody>
      </p:sp>
      <p:sp>
        <p:nvSpPr>
          <p:cNvPr id="9" name="Point 3 circle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Point 3 icon" descr="Point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3036722"/>
            <a:ext cx="281635" cy="281635"/>
          </a:xfrm>
          <a:prstGeom prst="rect">
            <a:avLst/>
          </a:prstGeom>
        </p:spPr>
      </p:pic>
      <p:sp>
        <p:nvSpPr>
          <p:cNvPr id="11" name="Point 3 text"/>
          <p:cNvSpPr txBox="1"/>
          <p:nvPr/>
        </p:nvSpPr>
        <p:spPr>
          <a:xfrm>
            <a:off x="1280160" y="292608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 web page lets anyone try the prediction</a:t>
            </a:r>
            <a:endParaRPr lang="en-US" sz="1800" dirty="0"/>
          </a:p>
        </p:txBody>
      </p:sp>
      <p:sp>
        <p:nvSpPr>
          <p:cNvPr id="12" name="Thank you"/>
          <p:cNvSpPr txBox="1"/>
          <p:nvPr/>
        </p:nvSpPr>
        <p:spPr>
          <a:xfrm>
            <a:off x="548640" y="3931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Thank you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lar Navy Amber">
  <a:themeElements>
    <a:clrScheme name="Solar Navy Amber">
      <a:dk1>
        <a:srgbClr val="10243E"/>
      </a:dk1>
      <a:lt1>
        <a:srgbClr val="FFFFFF"/>
      </a:lt1>
      <a:dk2>
        <a:srgbClr val="1C3A5E"/>
      </a:dk2>
      <a:lt2>
        <a:srgbClr val="EEF3F8"/>
      </a:lt2>
      <a:accent1>
        <a:srgbClr val="F5A623"/>
      </a:accent1>
      <a:accent2>
        <a:srgbClr val="1C7293"/>
      </a:accent2>
      <a:accent3>
        <a:srgbClr val="2E8B57"/>
      </a:accent3>
      <a:accent4>
        <a:srgbClr val="E4572E"/>
      </a:accent4>
      <a:accent5>
        <a:srgbClr val="5B6B7C"/>
      </a:accent5>
      <a:accent6>
        <a:srgbClr val="FFD166"/>
      </a:accent6>
      <a:hlink>
        <a:srgbClr val="1C7293"/>
      </a:hlink>
      <a:folHlink>
        <a:srgbClr val="5B6B7C"/>
      </a:folHlink>
    </a:clrScheme>
    <a:fontScheme name="Solar Navy Amb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Power Generation Prediction</dc:title>
  <dc:subject>PptxGenJS Presentation</dc:subject>
  <dc:creator>PptxGenJS</dc:creator>
  <cp:lastModifiedBy>PptxGenJS</cp:lastModifiedBy>
  <cp:revision>1</cp:revision>
  <dcterms:created xsi:type="dcterms:W3CDTF">2026-10-20T12:24:05Z</dcterms:created>
  <dcterms:modified xsi:type="dcterms:W3CDTF">2026-10-20T12:24:05Z</dcterms:modified>
</cp:coreProperties>
</file>